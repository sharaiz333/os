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19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Gill Sans MT" panose="020B0502020104020203" pitchFamily="34" charset="0"/>
      <p:regular r:id="rId21"/>
      <p:bold r:id="rId22"/>
      <p:italic r:id="rId23"/>
      <p:boldItalic r:id="rId24"/>
    </p:embeddedFont>
    <p:embeddedFont>
      <p:font typeface="Open Sans" panose="020B060402020202020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71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920240" y="2864093"/>
            <a:ext cx="10789920" cy="197510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56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4233" y="5223053"/>
            <a:ext cx="8161934" cy="14878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686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265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920240" y="2864093"/>
            <a:ext cx="10789920" cy="197510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456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4233" y="5222958"/>
            <a:ext cx="8161934" cy="1518098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55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8295" y="3165653"/>
            <a:ext cx="5126125" cy="37223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05979" y="3165653"/>
            <a:ext cx="5124296" cy="37223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1544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123" y="2776120"/>
            <a:ext cx="5124298" cy="844904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80" b="0" cap="all" spc="12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0123" y="3771900"/>
            <a:ext cx="5124298" cy="31161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5979" y="3771900"/>
            <a:ext cx="5104181" cy="311613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605979" y="2776120"/>
            <a:ext cx="5124298" cy="844904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80" b="0" cap="all" spc="12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149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428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448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65607" y="2692594"/>
            <a:ext cx="5383987" cy="136979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64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3296" y="965607"/>
            <a:ext cx="5779008" cy="6298387"/>
          </a:xfrm>
        </p:spPr>
        <p:txBody>
          <a:bodyPr>
            <a:normAutofit/>
          </a:bodyPr>
          <a:lstStyle>
            <a:lvl1pPr>
              <a:defRPr sz="2280">
                <a:solidFill>
                  <a:schemeClr val="tx1"/>
                </a:solidFill>
              </a:defRPr>
            </a:lvl1pPr>
            <a:lvl2pPr>
              <a:defRPr sz="1920">
                <a:solidFill>
                  <a:schemeClr val="tx1"/>
                </a:solidFill>
              </a:defRPr>
            </a:lvl2pPr>
            <a:lvl3pPr>
              <a:defRPr sz="1920">
                <a:solidFill>
                  <a:schemeClr val="tx1"/>
                </a:solidFill>
              </a:defRPr>
            </a:lvl3pPr>
            <a:lvl4pPr>
              <a:defRPr sz="1920">
                <a:solidFill>
                  <a:schemeClr val="tx1"/>
                </a:solidFill>
              </a:defRPr>
            </a:lvl4pPr>
            <a:lvl5pPr>
              <a:defRPr sz="1920">
                <a:solidFill>
                  <a:schemeClr val="tx1"/>
                </a:solidFill>
              </a:defRPr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682" y="4259902"/>
            <a:ext cx="4553712" cy="2632843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65607" y="7483450"/>
            <a:ext cx="6149756" cy="384048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5149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731519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70227" y="2692594"/>
            <a:ext cx="5393998" cy="136156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64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15200" y="0"/>
            <a:ext cx="7322516" cy="82296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84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682" y="4259902"/>
            <a:ext cx="4553712" cy="2632844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65607" y="7483450"/>
            <a:ext cx="6149756" cy="384048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022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5726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3734" y="1124712"/>
            <a:ext cx="1558330" cy="59801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7364" y="1124712"/>
            <a:ext cx="7438187" cy="59801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1199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730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501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198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23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100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7378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307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92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19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13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677363" y="1157630"/>
            <a:ext cx="9275674" cy="1426464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7363" y="3165653"/>
            <a:ext cx="9275674" cy="3722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5715" y="7486579"/>
            <a:ext cx="3304495" cy="38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1" y="7483450"/>
            <a:ext cx="7081427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0706" y="7461504"/>
            <a:ext cx="438912" cy="438912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32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60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3" r:id="rId1"/>
    <p:sldLayoutId id="2147484194" r:id="rId2"/>
    <p:sldLayoutId id="2147484195" r:id="rId3"/>
    <p:sldLayoutId id="2147484196" r:id="rId4"/>
    <p:sldLayoutId id="2147484197" r:id="rId5"/>
    <p:sldLayoutId id="2147484198" r:id="rId6"/>
    <p:sldLayoutId id="2147484199" r:id="rId7"/>
    <p:sldLayoutId id="2147484200" r:id="rId8"/>
    <p:sldLayoutId id="2147484201" r:id="rId9"/>
    <p:sldLayoutId id="2147484202" r:id="rId10"/>
    <p:sldLayoutId id="2147484203" r:id="rId11"/>
    <p:sldLayoutId id="2147484204" r:id="rId12"/>
    <p:sldLayoutId id="2147484205" r:id="rId13"/>
    <p:sldLayoutId id="2147484206" r:id="rId14"/>
    <p:sldLayoutId id="2147484207" r:id="rId15"/>
    <p:sldLayoutId id="2147484208" r:id="rId16"/>
    <p:sldLayoutId id="2147484209" r:id="rId17"/>
    <p:sldLayoutId id="2147484210" r:id="rId18"/>
    <p:sldLayoutId id="2147484211" r:id="rId19"/>
    <p:sldLayoutId id="2147484212" r:id="rId20"/>
    <p:sldLayoutId id="2147484213" r:id="rId21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3360" kern="1200" cap="all" spc="24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216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9728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37160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75436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1781176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5933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624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MiniShell – A Beginner-Friendly Linux Shell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82271"/>
            <a:ext cx="36993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Members: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Sharaiz Ahmed [57288] &amp; Abdul Moiz [54482]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Semester: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BSCS 5-1, Riphah International University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7420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 Zeeshan Ali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882271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exploration of operating system concepts through the development of a custom Linux shell with process control block visualization and resource monitoring.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4560"/>
            <a:ext cx="69299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Introduction &amp;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69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shell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command-line interface that interprets user commands and executes them by interacting with the operating system kernel. It serves as the bridge between users and the system's core functionality.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7923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622358"/>
            <a:ext cx="3072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Learning OS Concepts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11277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process creation, management, and lifecycle through hands-on implementation.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387923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3622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Process Handling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411277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Mastering fork(), exec(), and process synchronization mechanisms in C++.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299829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224" y="5534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PCB Visualization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6024682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Simulating and displaying Process Control Block snapshots for educational insight.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299829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982" y="5534263"/>
            <a:ext cx="29558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Resource Monitoring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6024682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Tracking CPU time, memory usage, and file descriptors for active processes.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168"/>
            <a:ext cx="5256848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5925" y="1655683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4685" y="1695033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9225" y="1727954"/>
            <a:ext cx="333458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Build a simple Linux shell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19225" y="2182654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Supporting basic commands and external program execution with proper process management.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5925" y="2939534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4685" y="2978884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19225" y="3011805"/>
            <a:ext cx="313086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Simulate PCB snapshots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19225" y="3466505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realistic Process Control Block representations to visualize process state and metadata.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5925" y="4223385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685" y="4262735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19225" y="4295656"/>
            <a:ext cx="312336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Track process resources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19225" y="4750356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Monitoring CPU time, memory usage, and open file descriptors for comprehensive resource analysis.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5925" y="5507236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685" y="5546586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19225" y="5579507"/>
            <a:ext cx="4769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Display kernel/user PCB information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19225" y="6034207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Presenting Process Control Block data in colored, user-friendly format for easy interpretation.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35925" y="6791087"/>
            <a:ext cx="473035" cy="473035"/>
          </a:xfrm>
          <a:prstGeom prst="roundRect">
            <a:avLst>
              <a:gd name="adj" fmla="val 18670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685" y="6830437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1419225" y="6863358"/>
            <a:ext cx="443007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Master OS programming concepts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19225" y="7318058"/>
            <a:ext cx="1247525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process creation, forking, execution, and resource usage monitoring in C++.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1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7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89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Colored welcome message and prompts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312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HCI-friendly prompt design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734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readability with color coding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63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Built-in Commands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7442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Change directory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864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Terminate shell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6286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Display command help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0708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pcb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Show PCB snapshot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5130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Display resource usage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955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kpcb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Kernel/user PCB tracking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2107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Process Execution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99521" y="2689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External command execution using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31312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Proper parent-child process synchronization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35734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 process termination and cleanup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4163139"/>
            <a:ext cx="29558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Resource Monitoring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99521" y="47442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CPU time tracking via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getrusage()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51864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 usage from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/proc/[pid]/statm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56286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file descriptors from </a:t>
            </a:r>
            <a:r>
              <a:rPr lang="en-US" sz="17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/proc/[pid]/fd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99521" y="60708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Kernel/user PCB tracking with summary and detailed views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743" y="476726"/>
            <a:ext cx="4624745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Architecture Diagram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6743" y="1365171"/>
            <a:ext cx="1341691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MiniShell follows a systematic flow from user input to output generation, with clear separation between user-space and kernel interactions: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1837492"/>
            <a:ext cx="13306306" cy="57379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7370" y="6487335"/>
            <a:ext cx="3232787" cy="37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Handler / Fork &amp; Exec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557370" y="5159086"/>
            <a:ext cx="3361712" cy="37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Command Type Check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57370" y="3844253"/>
            <a:ext cx="3018749" cy="377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7370" y="2516003"/>
            <a:ext cx="3018749" cy="37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6743" y="7770495"/>
            <a:ext cx="1341691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processes the command progressively, ensuring proper resource tracking and accurate PCB representation before final output to the user.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3" y="437793"/>
            <a:ext cx="6754773" cy="49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Tokenization &amp; Command Parsing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7213" y="1253609"/>
            <a:ext cx="13531691" cy="49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shell splits user input into individual tokens (command and arguments) for processing. The </a:t>
            </a:r>
            <a:r>
              <a:rPr lang="en-US" sz="16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tokenize()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function handles this critical step: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7213" y="1687354"/>
            <a:ext cx="13515975" cy="2530673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9354" y="1687354"/>
            <a:ext cx="13531691" cy="2530673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08541" y="1806653"/>
            <a:ext cx="5597666" cy="24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vector&lt;string&gt; tokenize(const string&amp; input) {    vector&lt;string&gt; tokens;    stringstream ss(input);    string token;    while (ss &gt;&gt; token) {        tokens.push_back(token);    }    return tokens;}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7213" y="4397097"/>
            <a:ext cx="13515975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tokenized, the </a:t>
            </a:r>
            <a:r>
              <a:rPr lang="en-US" sz="16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make_exec_args()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function converts tokens into a </a:t>
            </a: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char**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array required by </a:t>
            </a: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213" y="4830842"/>
            <a:ext cx="13515975" cy="2530673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549354" y="4830842"/>
            <a:ext cx="13531691" cy="2530673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08541" y="4950143"/>
            <a:ext cx="6401707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char** make_exec_args(const vector&lt;string&gt;&amp; tokens) {    char** args = new char*[tokens.size() + 1];    for (size_t i = 0; i &lt; tokens.size(); i++) {        args[i] = new char[tokens[i].length() + 1];        strcpy(args[i], tokens[i].c_str());    }    args[tokens.size()] = nullptr;    return args;}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7213" y="7540585"/>
            <a:ext cx="13515975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two-stage parsing ensures robust command interpretation and proper argument passing to external programs.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726996"/>
            <a:ext cx="5159454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Built-in Commands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2233" y="1784509"/>
            <a:ext cx="13185934" cy="5155883"/>
          </a:xfrm>
          <a:prstGeom prst="roundRect">
            <a:avLst>
              <a:gd name="adj" fmla="val 16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9853" y="1792129"/>
            <a:ext cx="13170694" cy="592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36188" y="1923574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32672" y="1923574"/>
            <a:ext cx="94615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9853" y="2385060"/>
            <a:ext cx="13170694" cy="592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36188" y="2516505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32672" y="2516505"/>
            <a:ext cx="94615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Changes the current working directory using </a:t>
            </a: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chdir()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Supports relative and absolute paths.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9853" y="2977991"/>
            <a:ext cx="13170694" cy="5929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6188" y="3109436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32672" y="3109436"/>
            <a:ext cx="94615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Terminates the shell process gracefully with optional exit code.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9853" y="3570923"/>
            <a:ext cx="13170694" cy="5929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36188" y="3702368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32672" y="3702368"/>
            <a:ext cx="94615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Displays comprehensive help information for all available commands in colored format.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853" y="4163854"/>
            <a:ext cx="13170694" cy="9229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36188" y="4295299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pcb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32672" y="4295299"/>
            <a:ext cx="946154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a simulated Process Control Block snapshot for the current shell process with PID, PPID, state, and memory information.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853" y="5086826"/>
            <a:ext cx="13170694" cy="9229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36188" y="5218271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32672" y="5218271"/>
            <a:ext cx="946154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Displays detailed resource usage including CPU time, virtual memory, resident set size, and open file descriptors.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9853" y="6009799"/>
            <a:ext cx="13170694" cy="9229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36188" y="6141244"/>
            <a:ext cx="287619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kpcb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32672" y="6141244"/>
            <a:ext cx="946154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Kernel/user PCB tracking with options: </a:t>
            </a: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(user threads), </a:t>
            </a: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-k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(kernel threads), </a:t>
            </a: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(memory summary only).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233" y="7172563"/>
            <a:ext cx="13185934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built-in commands produce </a:t>
            </a:r>
            <a:r>
              <a:rPr lang="en-US" sz="1600" b="1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colored output</a:t>
            </a: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enhanced readability and visual distinction.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953" y="453509"/>
            <a:ext cx="6067782" cy="513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External Command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4953" y="1295400"/>
            <a:ext cx="13480494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shell executes external commands using the </a:t>
            </a:r>
            <a:r>
              <a:rPr lang="en-US" sz="12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fork()</a:t>
            </a: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2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execvp()</a:t>
            </a: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system calls, creating child processes that run independently: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53" y="1743075"/>
            <a:ext cx="4928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1940" y="1907262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Parent Process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1940" y="2262426"/>
            <a:ext cx="1282350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Shell process receives user command and prepares for forking.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93" y="2892981"/>
            <a:ext cx="492800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8280" y="3057168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Fork System Call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78280" y="3412331"/>
            <a:ext cx="12577167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child process with identical memory space and file descriptors.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53" y="4042886"/>
            <a:ext cx="492800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24739" y="4207073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Child Execution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724739" y="4562237"/>
            <a:ext cx="1233070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Child process calls </a:t>
            </a:r>
            <a:r>
              <a:rPr lang="en-US" sz="12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execvp()</a:t>
            </a: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replace its image with the requested program.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12" y="5192792"/>
            <a:ext cx="492800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71199" y="5356979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Parent Waits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971199" y="5712143"/>
            <a:ext cx="1208424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Parent process calls </a:t>
            </a:r>
            <a:r>
              <a:rPr lang="en-US" sz="12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waitpid()</a:t>
            </a: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synchronize and collect child exit status.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53" y="6342698"/>
            <a:ext cx="492800" cy="1143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24739" y="6506885"/>
            <a:ext cx="205370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Resource Cleanup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724739" y="6862048"/>
            <a:ext cx="1233070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Parent resumes shell loop after child termination, ready for next command.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74953" y="7513201"/>
            <a:ext cx="13480494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architecture ensures proper process isolation, resource management, and shell responsiveness.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435" y="492443"/>
            <a:ext cx="4467582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PCB Simulation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5435" y="1408152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Control Block (PCB)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kernel data structure that stores all information about a process. Our simulation captures essential PCB fields: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5435" y="1894999"/>
            <a:ext cx="13379529" cy="3126581"/>
          </a:xfrm>
          <a:prstGeom prst="roundRect">
            <a:avLst>
              <a:gd name="adj" fmla="val 240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16506" y="1894999"/>
            <a:ext cx="13397389" cy="3126581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95099" y="2028944"/>
            <a:ext cx="13040201" cy="28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SimulatedPCB {    pid_t pid;              // Process ID    pid_t ppid;             // Parent Process ID    string state;           // Process state (Running, Sleeping, etc.)    unsigned long sp;       // Stack pointer    unsigned long ra;       // Return address    long timestamp;         // Creation timestamp    unsigned long vm;       // Virtual memory size    unsigned long rss;      // Resident set size (physical memory)};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5435" y="5222558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capture_simulated_pcb()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function gathers this data from </a:t>
            </a:r>
            <a:r>
              <a:rPr lang="en-US" sz="14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4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/proc/[pid]/statm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5435" y="5709404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PID: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Unique process identifier assigned by the kernel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5435" y="6057781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PPID: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Parent process ID for process hierarchy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5435" y="6406158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Current process state (R=Running, S=Sleeping, Z=Zombie, etc.)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5435" y="6754535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Stack Pointer &amp; Return Address: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CPU register values for context switching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5435" y="7102912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 creation time for lifecycle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5435" y="7451288"/>
            <a:ext cx="1337952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VM &amp; RSS: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Memory usage metrics for resource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536" y="526375"/>
            <a:ext cx="7727871" cy="596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Resource Tracking &amp; Monitoring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8536" y="1505188"/>
            <a:ext cx="1329332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shell implements comprehensive resource monitoring using multiple Linux interfaces: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8536" y="2025610"/>
            <a:ext cx="6551176" cy="2330291"/>
          </a:xfrm>
          <a:prstGeom prst="roundRect">
            <a:avLst>
              <a:gd name="adj" fmla="val 3443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1396" y="2048470"/>
            <a:ext cx="6505456" cy="573048"/>
          </a:xfrm>
          <a:prstGeom prst="roundRect">
            <a:avLst>
              <a:gd name="adj" fmla="val 9214"/>
            </a:avLst>
          </a:prstGeom>
          <a:solidFill>
            <a:srgbClr val="FFD8CC"/>
          </a:solidFill>
          <a:ln/>
        </p:spPr>
      </p:sp>
      <p:sp>
        <p:nvSpPr>
          <p:cNvPr id="6" name="Text 4"/>
          <p:cNvSpPr/>
          <p:nvPr/>
        </p:nvSpPr>
        <p:spPr>
          <a:xfrm>
            <a:off x="3800832" y="2152055"/>
            <a:ext cx="286464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82372" y="2812494"/>
            <a:ext cx="238779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Memory Tracking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82372" y="3225522"/>
            <a:ext cx="612350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</a:t>
            </a:r>
            <a:r>
              <a:rPr lang="en-US" sz="15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/proc/[pid]/statm</a:t>
            </a: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obtain virtual memory (VM) and resident set size (RSS). VM represents total allocated memory, while RSS shows physical memory pages currently in RAM.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10688" y="2025610"/>
            <a:ext cx="6551176" cy="2330291"/>
          </a:xfrm>
          <a:prstGeom prst="roundRect">
            <a:avLst>
              <a:gd name="adj" fmla="val 3443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3548" y="2048470"/>
            <a:ext cx="6505456" cy="573048"/>
          </a:xfrm>
          <a:prstGeom prst="roundRect">
            <a:avLst>
              <a:gd name="adj" fmla="val 9214"/>
            </a:avLst>
          </a:prstGeom>
          <a:solidFill>
            <a:srgbClr val="FFD8CC"/>
          </a:solidFill>
          <a:ln/>
        </p:spPr>
      </p:sp>
      <p:sp>
        <p:nvSpPr>
          <p:cNvPr id="11" name="Text 9"/>
          <p:cNvSpPr/>
          <p:nvPr/>
        </p:nvSpPr>
        <p:spPr>
          <a:xfrm>
            <a:off x="10542984" y="2152055"/>
            <a:ext cx="286464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624524" y="2812494"/>
            <a:ext cx="238779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CPU Time Tracking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24524" y="3225522"/>
            <a:ext cx="612350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</a:t>
            </a:r>
            <a:r>
              <a:rPr lang="en-US" sz="15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getrusage()</a:t>
            </a: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system call to retrieve user CPU time and system CPU time. Provides accurate measurement of processor utilization for the shell process.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8536" y="4546878"/>
            <a:ext cx="6551176" cy="2330291"/>
          </a:xfrm>
          <a:prstGeom prst="roundRect">
            <a:avLst>
              <a:gd name="adj" fmla="val 3443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1396" y="4569738"/>
            <a:ext cx="6505456" cy="573048"/>
          </a:xfrm>
          <a:prstGeom prst="roundRect">
            <a:avLst>
              <a:gd name="adj" fmla="val 9214"/>
            </a:avLst>
          </a:prstGeom>
          <a:solidFill>
            <a:srgbClr val="FFD8CC"/>
          </a:solidFill>
          <a:ln/>
        </p:spPr>
      </p:sp>
      <p:sp>
        <p:nvSpPr>
          <p:cNvPr id="16" name="Text 14"/>
          <p:cNvSpPr/>
          <p:nvPr/>
        </p:nvSpPr>
        <p:spPr>
          <a:xfrm>
            <a:off x="3800832" y="4673322"/>
            <a:ext cx="286464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82372" y="5333762"/>
            <a:ext cx="2871192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File Descriptor Tracking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82372" y="5746790"/>
            <a:ext cx="612350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Counts open file descriptors by examining </a:t>
            </a:r>
            <a:r>
              <a:rPr lang="en-US" sz="15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/proc/[pid]/fd</a:t>
            </a: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directory. Each file, socket, or pipe opened by the process appears as a symbolic link in this directory.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10688" y="4546878"/>
            <a:ext cx="6551176" cy="2330291"/>
          </a:xfrm>
          <a:prstGeom prst="roundRect">
            <a:avLst>
              <a:gd name="adj" fmla="val 3443"/>
            </a:avLst>
          </a:prstGeom>
          <a:solidFill>
            <a:srgbClr val="FFFFFF"/>
          </a:solidFill>
          <a:ln w="22860">
            <a:solidFill>
              <a:srgbClr val="E5BE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3548" y="4569738"/>
            <a:ext cx="6505456" cy="573048"/>
          </a:xfrm>
          <a:prstGeom prst="roundRect">
            <a:avLst>
              <a:gd name="adj" fmla="val 9214"/>
            </a:avLst>
          </a:prstGeom>
          <a:solidFill>
            <a:srgbClr val="FFD8CC"/>
          </a:solidFill>
          <a:ln/>
        </p:spPr>
      </p:sp>
      <p:sp>
        <p:nvSpPr>
          <p:cNvPr id="21" name="Text 19"/>
          <p:cNvSpPr/>
          <p:nvPr/>
        </p:nvSpPr>
        <p:spPr>
          <a:xfrm>
            <a:off x="10542984" y="4673322"/>
            <a:ext cx="286464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624524" y="5333762"/>
            <a:ext cx="308550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Kernel/User PCB Tracking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624524" y="5746790"/>
            <a:ext cx="612350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Parses </a:t>
            </a:r>
            <a:r>
              <a:rPr lang="en-US" sz="15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/proc/[pid]/status</a:t>
            </a: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distinguish between kernel threads and user threads. Displays state information with color-coded indicators for easy identification.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8536" y="7092077"/>
            <a:ext cx="13293328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monitoring mechanisms provide real-time visibility into process behaviour and resource consumption, essential for understanding OS-level operations.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</TotalTime>
  <Words>1236</Words>
  <Application>Microsoft Office PowerPoint</Application>
  <PresentationFormat>Custom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Merriweather Bold</vt:lpstr>
      <vt:lpstr>Consolas</vt:lpstr>
      <vt:lpstr>Gill Sans MT</vt:lpstr>
      <vt:lpstr>Open Sans</vt:lpstr>
      <vt:lpstr>Calibri</vt:lpstr>
      <vt:lpstr>Arial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Sharaiz Romee</cp:lastModifiedBy>
  <cp:revision>3</cp:revision>
  <dcterms:created xsi:type="dcterms:W3CDTF">2025-11-29T21:35:32Z</dcterms:created>
  <dcterms:modified xsi:type="dcterms:W3CDTF">2025-11-29T21:48:29Z</dcterms:modified>
</cp:coreProperties>
</file>